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11.jpg" ContentType="image/jpeg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72" r:id="rId10"/>
  </p:sldIdLst>
  <p:sldSz cx="14630400" cy="8229600"/>
  <p:notesSz cx="8229600" cy="14630400"/>
  <p:embeddedFontLst>
    <p:embeddedFont>
      <p:font typeface="Inter" panose="020B0604020202020204" charset="0"/>
      <p:regular r:id="rId1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172"/>
    <a:srgbClr val="204C8E"/>
    <a:srgbClr val="4950BC"/>
    <a:srgbClr val="2E5496"/>
    <a:srgbClr val="5164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31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4508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80" b="0" i="0">
                <a:solidFill>
                  <a:srgbClr val="2E5496"/>
                </a:solidFill>
                <a:latin typeface="Arial MT"/>
                <a:cs typeface="Arial MT"/>
              </a:defRPr>
            </a:lvl1pPr>
          </a:lstStyle>
          <a:p>
            <a:pPr marL="15240">
              <a:lnSpc>
                <a:spcPts val="1992"/>
              </a:lnSpc>
            </a:pPr>
            <a:r>
              <a:rPr lang="pt-BR" spc="-108" dirty="0"/>
              <a:t>Projeto</a:t>
            </a:r>
            <a:r>
              <a:rPr lang="pt-BR" spc="12" dirty="0"/>
              <a:t> </a:t>
            </a:r>
            <a:r>
              <a:rPr lang="pt-BR" spc="-96" dirty="0"/>
              <a:t>Integrador</a:t>
            </a:r>
            <a:r>
              <a:rPr lang="pt-BR" spc="36" dirty="0"/>
              <a:t> </a:t>
            </a:r>
            <a:r>
              <a:rPr lang="pt-BR" spc="-72" dirty="0"/>
              <a:t>-</a:t>
            </a:r>
            <a:r>
              <a:rPr lang="pt-BR" dirty="0"/>
              <a:t> </a:t>
            </a:r>
            <a:r>
              <a:rPr lang="pt-BR" spc="-102" dirty="0"/>
              <a:t>Front</a:t>
            </a:r>
            <a:r>
              <a:rPr lang="pt-BR" spc="24" dirty="0"/>
              <a:t> </a:t>
            </a:r>
            <a:r>
              <a:rPr lang="pt-BR" spc="-156" dirty="0"/>
              <a:t>End</a:t>
            </a:r>
            <a:r>
              <a:rPr lang="pt-BR" spc="6" dirty="0"/>
              <a:t> </a:t>
            </a:r>
            <a:r>
              <a:rPr lang="pt-BR" spc="-72" dirty="0"/>
              <a:t>-</a:t>
            </a:r>
            <a:r>
              <a:rPr lang="pt-BR" dirty="0"/>
              <a:t> </a:t>
            </a:r>
            <a:r>
              <a:rPr lang="pt-BR" spc="-137" dirty="0"/>
              <a:t>Prof.</a:t>
            </a:r>
            <a:r>
              <a:rPr lang="pt-BR" spc="6" dirty="0"/>
              <a:t> </a:t>
            </a:r>
            <a:r>
              <a:rPr lang="pt-BR" spc="-102" dirty="0"/>
              <a:t>Antonio</a:t>
            </a:r>
            <a:r>
              <a:rPr lang="pt-BR" spc="-18" dirty="0"/>
              <a:t> </a:t>
            </a:r>
            <a:r>
              <a:rPr lang="pt-BR" spc="-156" dirty="0"/>
              <a:t>Guardado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11/24/2025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1938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4630399" cy="8229598"/>
          </a:xfrm>
          <a:prstGeom prst="rect">
            <a:avLst/>
          </a:prstGeom>
        </p:spPr>
      </p:pic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8F7144E8-36AA-4CF1-B18F-4C998F11B8E6}"/>
              </a:ext>
            </a:extLst>
          </p:cNvPr>
          <p:cNvSpPr/>
          <p:nvPr/>
        </p:nvSpPr>
        <p:spPr>
          <a:xfrm>
            <a:off x="2184936" y="3566160"/>
            <a:ext cx="7690585" cy="2468880"/>
          </a:xfrm>
          <a:prstGeom prst="roundRect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defTabSz="1097280">
              <a:defRPr/>
            </a:pPr>
            <a:r>
              <a:rPr lang="pt-BR" sz="2400" kern="0" dirty="0">
                <a:solidFill>
                  <a:prstClr val="white"/>
                </a:solidFill>
                <a:latin typeface="Calibri" panose="020F0502020204030204"/>
              </a:rPr>
              <a:t>Guilherme Alves Soares RA: 22.01540-0</a:t>
            </a:r>
          </a:p>
          <a:p>
            <a:pPr defTabSz="1097280">
              <a:defRPr/>
            </a:pPr>
            <a:r>
              <a:rPr lang="pt-BR" sz="2400" kern="0">
                <a:solidFill>
                  <a:prstClr val="white"/>
                </a:solidFill>
                <a:latin typeface="Calibri" panose="020F0502020204030204"/>
              </a:rPr>
              <a:t>Guilherme Gois </a:t>
            </a:r>
            <a:r>
              <a:rPr lang="pt-BR" sz="2400" kern="0" dirty="0">
                <a:solidFill>
                  <a:prstClr val="white"/>
                </a:solidFill>
                <a:latin typeface="Calibri" panose="020F0502020204030204"/>
              </a:rPr>
              <a:t>Cruz Coelho RA: 25.00702-2</a:t>
            </a:r>
          </a:p>
          <a:p>
            <a:pPr defTabSz="1097280">
              <a:defRPr/>
            </a:pPr>
            <a:r>
              <a:rPr lang="pt-BR" sz="2400" kern="0" dirty="0">
                <a:solidFill>
                  <a:prstClr val="white"/>
                </a:solidFill>
                <a:latin typeface="Calibri" panose="020F0502020204030204"/>
              </a:rPr>
              <a:t>Guilherme Zanelli de Novaes RA 25.00225-4</a:t>
            </a:r>
          </a:p>
          <a:p>
            <a:pPr defTabSz="1097280">
              <a:defRPr/>
            </a:pPr>
            <a:r>
              <a:rPr lang="pt-BR" sz="2400" kern="0" dirty="0">
                <a:solidFill>
                  <a:prstClr val="white"/>
                </a:solidFill>
                <a:latin typeface="Calibri" panose="020F0502020204030204"/>
              </a:rPr>
              <a:t>Lucas Bassi da Silva RA: 21-01122-2</a:t>
            </a:r>
          </a:p>
          <a:p>
            <a:pPr defTabSz="1097280">
              <a:defRPr/>
            </a:pPr>
            <a:r>
              <a:rPr lang="pt-BR" sz="2400" kern="0" dirty="0">
                <a:solidFill>
                  <a:prstClr val="white"/>
                </a:solidFill>
                <a:latin typeface="Calibri" panose="020F0502020204030204"/>
              </a:rPr>
              <a:t>Patrick Araujo dos Santos RA: 25.01311-1</a:t>
            </a:r>
          </a:p>
          <a:p>
            <a:pPr defTabSz="1097280">
              <a:defRPr/>
            </a:pPr>
            <a:r>
              <a:rPr lang="pt-BR" sz="2400" kern="0" dirty="0">
                <a:solidFill>
                  <a:prstClr val="white"/>
                </a:solidFill>
                <a:latin typeface="Calibri" panose="020F0502020204030204"/>
              </a:rPr>
              <a:t>Rodrigo Ribeiro Persolli RA: 25.00074-6</a:t>
            </a: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40224E2B-0B81-4735-968C-4EB5D382A94A}"/>
              </a:ext>
            </a:extLst>
          </p:cNvPr>
          <p:cNvSpPr/>
          <p:nvPr/>
        </p:nvSpPr>
        <p:spPr>
          <a:xfrm>
            <a:off x="2194560" y="530121"/>
            <a:ext cx="5577840" cy="750040"/>
          </a:xfrm>
          <a:prstGeom prst="roundRect">
            <a:avLst/>
          </a:prstGeom>
          <a:solidFill>
            <a:srgbClr val="ED7D31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097280">
              <a:defRPr/>
            </a:pPr>
            <a:r>
              <a:rPr lang="pt-BR" sz="2880" b="1" kern="0" dirty="0">
                <a:solidFill>
                  <a:prstClr val="white"/>
                </a:solidFill>
                <a:latin typeface="Calibri" panose="020F0502020204030204"/>
              </a:rPr>
              <a:t>Projeto Integrador Interdisciplinar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11BD897-B763-46EB-9EED-C8987C1680DE}"/>
              </a:ext>
            </a:extLst>
          </p:cNvPr>
          <p:cNvSpPr txBox="1"/>
          <p:nvPr/>
        </p:nvSpPr>
        <p:spPr>
          <a:xfrm>
            <a:off x="2647189" y="2618911"/>
            <a:ext cx="1075871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80" b="1" dirty="0">
                <a:solidFill>
                  <a:schemeClr val="bg1"/>
                </a:solidFill>
              </a:rPr>
              <a:t>Sistema Gerenciador de Laboratórios e Estoque</a:t>
            </a:r>
          </a:p>
        </p:txBody>
      </p:sp>
      <p:sp>
        <p:nvSpPr>
          <p:cNvPr id="3" name="Rounded Rectangle 5">
            <a:extLst>
              <a:ext uri="{FF2B5EF4-FFF2-40B4-BE49-F238E27FC236}">
                <a16:creationId xmlns:a16="http://schemas.microsoft.com/office/drawing/2014/main" id="{E6E8D73D-72F4-B6D4-65CA-91FCCA936DCF}"/>
              </a:ext>
            </a:extLst>
          </p:cNvPr>
          <p:cNvSpPr/>
          <p:nvPr/>
        </p:nvSpPr>
        <p:spPr>
          <a:xfrm>
            <a:off x="8778240" y="530121"/>
            <a:ext cx="4759452" cy="750040"/>
          </a:xfrm>
          <a:prstGeom prst="roundRect">
            <a:avLst/>
          </a:prstGeom>
          <a:solidFill>
            <a:srgbClr val="9FBD3B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1097280">
              <a:defRPr/>
            </a:pPr>
            <a:r>
              <a:rPr lang="pt-BR" sz="2400" b="1" kern="0" dirty="0">
                <a:solidFill>
                  <a:srgbClr val="173275"/>
                </a:solidFill>
                <a:latin typeface="Calibri" panose="020F0502020204030204"/>
              </a:rPr>
              <a:t>Parceiro:</a:t>
            </a:r>
            <a:r>
              <a:rPr lang="pt-BR" sz="2400" kern="0" dirty="0">
                <a:solidFill>
                  <a:srgbClr val="173275"/>
                </a:solidFill>
                <a:latin typeface="Calibri" panose="020F0502020204030204"/>
              </a:rPr>
              <a:t> ETEC Júlio de Mesquita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058" y="1779865"/>
            <a:ext cx="13314283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0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Para entendermos a necessidade deste projeto, vamos analisar as principais questões: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058" y="2292072"/>
            <a:ext cx="6563082" cy="3064907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Shape 3"/>
          <p:cNvSpPr/>
          <p:nvPr/>
        </p:nvSpPr>
        <p:spPr>
          <a:xfrm>
            <a:off x="635198" y="2292072"/>
            <a:ext cx="91440" cy="3064907"/>
          </a:xfrm>
          <a:prstGeom prst="roundRect">
            <a:avLst>
              <a:gd name="adj" fmla="val 86374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937498" y="2502932"/>
            <a:ext cx="3147774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latin typeface="+mj-lt"/>
                <a:ea typeface="Inter Bold" pitchFamily="34" charset="-122"/>
                <a:cs typeface="Inter Bold" pitchFamily="34" charset="-120"/>
              </a:rPr>
              <a:t>O Que / Por Que (Problema)</a:t>
            </a:r>
            <a:endParaRPr lang="en-US" sz="20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937498" y="2909411"/>
            <a:ext cx="6072783" cy="90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ea typeface="Inter" pitchFamily="34" charset="-122"/>
                <a:cs typeface="Inter" pitchFamily="34" charset="-120"/>
              </a:rPr>
              <a:t>Processo Manual e Descentralizado:</a:t>
            </a:r>
            <a:r>
              <a:rPr lang="en-US" sz="1600" dirty="0">
                <a:ea typeface="Inter" pitchFamily="34" charset="-122"/>
                <a:cs typeface="Inter" pitchFamily="34" charset="-120"/>
              </a:rPr>
              <a:t> O agendamento e administração de aulas práticas nos Laboratórios de Química da ETEC Júlio de Mesquita são manuais e dependem de planilhas.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7498" y="3877389"/>
            <a:ext cx="6072783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ea typeface="Inter" pitchFamily="34" charset="-122"/>
                <a:cs typeface="Inter" pitchFamily="34" charset="-120"/>
              </a:rPr>
              <a:t>Ineficiência e Riscos:</a:t>
            </a:r>
            <a:r>
              <a:rPr lang="en-US" sz="1600" dirty="0">
                <a:ea typeface="Inter" pitchFamily="34" charset="-122"/>
                <a:cs typeface="Inter" pitchFamily="34" charset="-120"/>
              </a:rPr>
              <a:t> Este método é ineficiente, resultando em sobreposição de horários e falhas na preparação de materiais</a:t>
            </a:r>
            <a:r>
              <a:rPr lang="en-US" sz="16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7498" y="4544616"/>
            <a:ext cx="6072783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ea typeface="Inter" pitchFamily="34" charset="-122"/>
                <a:cs typeface="Inter" pitchFamily="34" charset="-120"/>
              </a:rPr>
              <a:t>Descontrole de Estoque:</a:t>
            </a:r>
            <a:r>
              <a:rPr lang="en-US" sz="1600" dirty="0">
                <a:ea typeface="Inter" pitchFamily="34" charset="-122"/>
                <a:cs typeface="Inter" pitchFamily="34" charset="-120"/>
              </a:rPr>
              <a:t> A dificuldade no controle do estoque de materiais é um problema significativo</a:t>
            </a:r>
            <a:r>
              <a:rPr lang="en-US" sz="1450" dirty="0">
                <a:ea typeface="Inter" pitchFamily="34" charset="-122"/>
                <a:cs typeface="Inter" pitchFamily="34" charset="-120"/>
              </a:rPr>
              <a:t>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09140" y="2292072"/>
            <a:ext cx="6563201" cy="3064907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Shape 9"/>
          <p:cNvSpPr/>
          <p:nvPr/>
        </p:nvSpPr>
        <p:spPr>
          <a:xfrm>
            <a:off x="7386280" y="2292072"/>
            <a:ext cx="91440" cy="3064907"/>
          </a:xfrm>
          <a:prstGeom prst="roundRect">
            <a:avLst>
              <a:gd name="adj" fmla="val 86374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/>
          <p:nvPr/>
        </p:nvSpPr>
        <p:spPr>
          <a:xfrm>
            <a:off x="7688580" y="2502932"/>
            <a:ext cx="2366129" cy="293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+mj-lt"/>
                <a:ea typeface="Inter Bold" pitchFamily="34" charset="-122"/>
                <a:cs typeface="Inter Bold" pitchFamily="34" charset="-120"/>
              </a:rPr>
              <a:t>Para Que (Objetivos)</a:t>
            </a:r>
            <a:endParaRPr lang="en-US" sz="20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88580" y="2909411"/>
            <a:ext cx="6072902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ea typeface="Inter" pitchFamily="34" charset="-122"/>
                <a:cs typeface="Inter" pitchFamily="34" charset="-120"/>
              </a:rPr>
              <a:t>Desenvolver um Sistema Web:</a:t>
            </a:r>
            <a:r>
              <a:rPr lang="en-US" sz="1600" dirty="0">
                <a:ea typeface="Inter" pitchFamily="34" charset="-122"/>
                <a:cs typeface="Inter" pitchFamily="34" charset="-120"/>
              </a:rPr>
              <a:t> Criar um sistema web responsivo para centralizar e automatizar processos.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88580" y="3576638"/>
            <a:ext cx="6072902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ea typeface="Inter" pitchFamily="34" charset="-122"/>
                <a:cs typeface="Inter" pitchFamily="34" charset="-120"/>
              </a:rPr>
              <a:t>Gerenciamento Integrado:</a:t>
            </a:r>
            <a:r>
              <a:rPr lang="en-US" sz="1600" dirty="0">
                <a:ea typeface="Inter" pitchFamily="34" charset="-122"/>
                <a:cs typeface="Inter" pitchFamily="34" charset="-120"/>
              </a:rPr>
              <a:t> Incluir agendamento de aulas, solicitação de materiais e gestão de estoque.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88580" y="4243864"/>
            <a:ext cx="6072902" cy="90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600" b="1" dirty="0">
                <a:ea typeface="Inter" pitchFamily="34" charset="-122"/>
                <a:cs typeface="Inter" pitchFamily="34" charset="-120"/>
              </a:rPr>
              <a:t>Otimização Operacional:</a:t>
            </a:r>
            <a:r>
              <a:rPr lang="en-US" sz="1600" dirty="0">
                <a:ea typeface="Inter" pitchFamily="34" charset="-122"/>
                <a:cs typeface="Inter" pitchFamily="34" charset="-120"/>
              </a:rPr>
              <a:t> Otimizar o trabalho de professores, técnicos e administradores, melhorando a organização e a eficiência.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058" y="5639038"/>
            <a:ext cx="3079552" cy="35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+mj-lt"/>
                <a:ea typeface="Inter Bold" pitchFamily="34" charset="-122"/>
                <a:cs typeface="Inter Bold" pitchFamily="34" charset="-120"/>
              </a:rPr>
              <a:t>Para Quem (Personas)</a:t>
            </a:r>
            <a:endParaRPr lang="en-US" sz="2200" dirty="0">
              <a:latin typeface="+mj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22684" y="6273641"/>
            <a:ext cx="4404003" cy="1139666"/>
          </a:xfrm>
          <a:prstGeom prst="roundRect">
            <a:avLst>
              <a:gd name="adj" fmla="val 118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8" name="Text 16"/>
          <p:cNvSpPr/>
          <p:nvPr/>
        </p:nvSpPr>
        <p:spPr>
          <a:xfrm>
            <a:off x="635198" y="6328803"/>
            <a:ext cx="2284367" cy="351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+mj-lt"/>
                <a:ea typeface="Inter Bold" pitchFamily="34" charset="-122"/>
                <a:cs typeface="Inter Bold" pitchFamily="34" charset="-120"/>
              </a:rPr>
              <a:t>O Professor</a:t>
            </a:r>
            <a:endParaRPr lang="en-US" sz="2000" dirty="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58058" y="6755368"/>
            <a:ext cx="2261507" cy="488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ea typeface="Inter" pitchFamily="34" charset="-122"/>
                <a:cs typeface="Inter" pitchFamily="34" charset="-120"/>
              </a:rPr>
              <a:t>Prof. Marcos Silva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22188" y="6273641"/>
            <a:ext cx="4402574" cy="113966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1" name="Text 19"/>
          <p:cNvSpPr/>
          <p:nvPr/>
        </p:nvSpPr>
        <p:spPr>
          <a:xfrm>
            <a:off x="5256001" y="6328802"/>
            <a:ext cx="2221720" cy="351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latin typeface="+mj-lt"/>
                <a:ea typeface="Inter Bold" pitchFamily="34" charset="-122"/>
                <a:cs typeface="Inter Bold" pitchFamily="34" charset="-120"/>
              </a:rPr>
              <a:t>O Técnico</a:t>
            </a:r>
            <a:endParaRPr lang="en-US" sz="200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56001" y="6755368"/>
            <a:ext cx="4080761" cy="488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ea typeface="Inter" pitchFamily="34" charset="-122"/>
                <a:cs typeface="Inter" pitchFamily="34" charset="-120"/>
              </a:rPr>
              <a:t>Lucas Andrade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720262" y="6273641"/>
            <a:ext cx="4402574" cy="1139666"/>
          </a:xfrm>
          <a:prstGeom prst="roundRect">
            <a:avLst>
              <a:gd name="adj" fmla="val 118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4" name="Text 22"/>
          <p:cNvSpPr/>
          <p:nvPr/>
        </p:nvSpPr>
        <p:spPr>
          <a:xfrm>
            <a:off x="9803179" y="6328801"/>
            <a:ext cx="1983221" cy="351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latin typeface="+mj-lt"/>
                <a:ea typeface="Inter Bold" pitchFamily="34" charset="-122"/>
                <a:cs typeface="Inter Bold" pitchFamily="34" charset="-120"/>
              </a:rPr>
              <a:t>A Administradora</a:t>
            </a:r>
            <a:endParaRPr lang="en-US" sz="200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803180" y="6755368"/>
            <a:ext cx="2059542" cy="406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ea typeface="Inter" pitchFamily="34" charset="-122"/>
                <a:cs typeface="Inter" pitchFamily="34" charset="-120"/>
              </a:rPr>
              <a:t>Ana Lúcia</a:t>
            </a:r>
            <a:endParaRPr lang="en-US" sz="1600" dirty="0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188F248C-DF96-4FC3-1D4C-7FA8A99E61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6400" y="6719918"/>
            <a:ext cx="2669389" cy="1239880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08BFFAE3-7D29-5213-18E8-EF4037BF2C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5200" y="7934284"/>
            <a:ext cx="1728675" cy="295316"/>
          </a:xfrm>
          <a:prstGeom prst="rect">
            <a:avLst/>
          </a:prstGeom>
        </p:spPr>
      </p:pic>
      <p:pic>
        <p:nvPicPr>
          <p:cNvPr id="33" name="Imagem 32">
            <a:extLst>
              <a:ext uri="{FF2B5EF4-FFF2-40B4-BE49-F238E27FC236}">
                <a16:creationId xmlns:a16="http://schemas.microsoft.com/office/drawing/2014/main" id="{B0D12F41-2AD0-B6F3-AB8D-CA30C8721D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16222" y="7826401"/>
            <a:ext cx="215768" cy="107884"/>
          </a:xfrm>
          <a:prstGeom prst="rect">
            <a:avLst/>
          </a:prstGeom>
        </p:spPr>
      </p:pic>
      <p:sp>
        <p:nvSpPr>
          <p:cNvPr id="39" name="Text 17">
            <a:extLst>
              <a:ext uri="{FF2B5EF4-FFF2-40B4-BE49-F238E27FC236}">
                <a16:creationId xmlns:a16="http://schemas.microsoft.com/office/drawing/2014/main" id="{BFE2E062-9C0B-FC0D-B2ED-8C8AB22352D5}"/>
              </a:ext>
            </a:extLst>
          </p:cNvPr>
          <p:cNvSpPr/>
          <p:nvPr/>
        </p:nvSpPr>
        <p:spPr>
          <a:xfrm>
            <a:off x="244800" y="7811883"/>
            <a:ext cx="4333814" cy="29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516485"/>
                </a:solidFill>
                <a:ea typeface="Inter" pitchFamily="34" charset="-122"/>
                <a:cs typeface="Inter" pitchFamily="34" charset="-120"/>
              </a:rPr>
              <a:t>Projeto Integrador Interdiciplinar</a:t>
            </a:r>
            <a:endParaRPr lang="en-US" sz="1600" dirty="0">
              <a:solidFill>
                <a:srgbClr val="516485"/>
              </a:solidFill>
            </a:endParaRPr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F7F9C7F9-6FA6-1D78-187A-98C4FBFD27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5" y="-25603"/>
            <a:ext cx="14630400" cy="166730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45569" y="1657748"/>
            <a:ext cx="13139261" cy="415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O levantamento de requisitos foi realizado através de uma entrevistas semiestruturadas com o parceiro institucional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5014" y="2392204"/>
            <a:ext cx="12819817" cy="1363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A técnica permitiu um alinhamento direto com os representantes da ETEC, garantindo que o projeto atenda às necessidades reais da instituição. O objetivo foi compreender o fluxo de trabalho atual, identificar necessidades e definir os requisitos do sistema. A análise revelou que o processo manual de agendamento é o problema central e as informações coletadas influenciaram diretamente as decisões de design.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45569" y="2152650"/>
            <a:ext cx="22860" cy="1842135"/>
          </a:xfrm>
          <a:prstGeom prst="rect">
            <a:avLst/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745569" y="4314230"/>
            <a:ext cx="3350776" cy="399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+mj-lt"/>
                <a:ea typeface="Inter Bold" pitchFamily="34" charset="-122"/>
                <a:cs typeface="Inter Bold" pitchFamily="34" charset="-120"/>
              </a:rPr>
              <a:t>Tópicos da Entrevista</a:t>
            </a:r>
            <a:endParaRPr lang="en-US" sz="25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5569" y="5146238"/>
            <a:ext cx="106442" cy="106442"/>
          </a:xfrm>
          <a:prstGeom prst="roundRect">
            <a:avLst>
              <a:gd name="adj" fmla="val 429530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1065014" y="5033129"/>
            <a:ext cx="4580811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Agendamento e Uso do Laboratório</a:t>
            </a:r>
            <a:endParaRPr lang="en-US" sz="2050" dirty="0"/>
          </a:p>
        </p:txBody>
      </p:sp>
      <p:sp>
        <p:nvSpPr>
          <p:cNvPr id="9" name="Shape 7"/>
          <p:cNvSpPr/>
          <p:nvPr/>
        </p:nvSpPr>
        <p:spPr>
          <a:xfrm>
            <a:off x="745569" y="5905024"/>
            <a:ext cx="106442" cy="106442"/>
          </a:xfrm>
          <a:prstGeom prst="roundRect">
            <a:avLst>
              <a:gd name="adj" fmla="val 429530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0" name="Text 8"/>
          <p:cNvSpPr/>
          <p:nvPr/>
        </p:nvSpPr>
        <p:spPr>
          <a:xfrm>
            <a:off x="1065014" y="5791914"/>
            <a:ext cx="3936087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Gestão de Materiais e Estoque</a:t>
            </a:r>
            <a:endParaRPr lang="en-US" sz="2050" dirty="0"/>
          </a:p>
        </p:txBody>
      </p:sp>
      <p:sp>
        <p:nvSpPr>
          <p:cNvPr id="11" name="Shape 9"/>
          <p:cNvSpPr/>
          <p:nvPr/>
        </p:nvSpPr>
        <p:spPr>
          <a:xfrm>
            <a:off x="745569" y="6663809"/>
            <a:ext cx="106442" cy="106442"/>
          </a:xfrm>
          <a:prstGeom prst="roundRect">
            <a:avLst>
              <a:gd name="adj" fmla="val 429530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/>
          <p:nvPr/>
        </p:nvSpPr>
        <p:spPr>
          <a:xfrm>
            <a:off x="1065014" y="6550700"/>
            <a:ext cx="404193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Perfis de Usuário e Permissões</a:t>
            </a:r>
            <a:endParaRPr lang="en-US" sz="2050" dirty="0"/>
          </a:p>
        </p:txBody>
      </p:sp>
      <p:sp>
        <p:nvSpPr>
          <p:cNvPr id="13" name="Shape 11"/>
          <p:cNvSpPr/>
          <p:nvPr/>
        </p:nvSpPr>
        <p:spPr>
          <a:xfrm>
            <a:off x="745569" y="7422594"/>
            <a:ext cx="106442" cy="106442"/>
          </a:xfrm>
          <a:prstGeom prst="roundRect">
            <a:avLst>
              <a:gd name="adj" fmla="val 429530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/>
          <p:nvPr/>
        </p:nvSpPr>
        <p:spPr>
          <a:xfrm>
            <a:off x="1065014" y="7309485"/>
            <a:ext cx="359616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ea typeface="Inter Bold" pitchFamily="34" charset="-122"/>
                <a:cs typeface="Inter Bold" pitchFamily="34" charset="-120"/>
              </a:rPr>
              <a:t>Funcionalidades e Interface</a:t>
            </a:r>
            <a:endParaRPr lang="en-US" sz="2050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44AC1CA8-B39B-523E-0342-DCF0CC33E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" y="-10378"/>
            <a:ext cx="14630400" cy="1668126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AC8A8FA-E286-9064-41B5-185AE10784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6400" y="6719918"/>
            <a:ext cx="2669389" cy="123988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02595AE2-FCD0-EFE9-9A43-CAEDD053A4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5200" y="7934284"/>
            <a:ext cx="1728675" cy="29531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504082FC-B627-3728-EAD4-D0C904CCB1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16222" y="7826401"/>
            <a:ext cx="215768" cy="107884"/>
          </a:xfrm>
          <a:prstGeom prst="rect">
            <a:avLst/>
          </a:prstGeom>
        </p:spPr>
      </p:pic>
      <p:sp>
        <p:nvSpPr>
          <p:cNvPr id="20" name="Text 17">
            <a:extLst>
              <a:ext uri="{FF2B5EF4-FFF2-40B4-BE49-F238E27FC236}">
                <a16:creationId xmlns:a16="http://schemas.microsoft.com/office/drawing/2014/main" id="{D9E6D120-9B7C-D363-2067-1987C044797A}"/>
              </a:ext>
            </a:extLst>
          </p:cNvPr>
          <p:cNvSpPr/>
          <p:nvPr/>
        </p:nvSpPr>
        <p:spPr>
          <a:xfrm>
            <a:off x="244800" y="7811883"/>
            <a:ext cx="4333814" cy="29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516485"/>
                </a:solidFill>
                <a:ea typeface="Inter" pitchFamily="34" charset="-122"/>
                <a:cs typeface="Inter" pitchFamily="34" charset="-120"/>
              </a:rPr>
              <a:t>Projeto Integrador Interdiciplinar</a:t>
            </a:r>
            <a:endParaRPr lang="en-US" sz="1600" dirty="0">
              <a:solidFill>
                <a:srgbClr val="516485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69727" y="2393394"/>
            <a:ext cx="4302681" cy="5308163"/>
          </a:xfrm>
          <a:prstGeom prst="roundRect">
            <a:avLst>
              <a:gd name="adj" fmla="val 25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Shape 2"/>
          <p:cNvSpPr/>
          <p:nvPr/>
        </p:nvSpPr>
        <p:spPr>
          <a:xfrm>
            <a:off x="669727" y="2370534"/>
            <a:ext cx="4302681" cy="91440"/>
          </a:xfrm>
          <a:prstGeom prst="roundRect">
            <a:avLst>
              <a:gd name="adj" fmla="val 87901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Shape 3"/>
          <p:cNvSpPr/>
          <p:nvPr/>
        </p:nvSpPr>
        <p:spPr>
          <a:xfrm>
            <a:off x="2476467" y="2106394"/>
            <a:ext cx="574000" cy="574000"/>
          </a:xfrm>
          <a:prstGeom prst="roundRect">
            <a:avLst>
              <a:gd name="adj" fmla="val 159303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" name="Text 4"/>
          <p:cNvSpPr/>
          <p:nvPr/>
        </p:nvSpPr>
        <p:spPr>
          <a:xfrm>
            <a:off x="2706231" y="2249924"/>
            <a:ext cx="229553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+mj-lt"/>
                <a:ea typeface="Inter Bold" pitchFamily="34" charset="-122"/>
                <a:cs typeface="Inter Bold" pitchFamily="34" charset="-120"/>
              </a:rPr>
              <a:t>1</a:t>
            </a:r>
            <a:endParaRPr lang="en-US" sz="28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5200" y="2846309"/>
            <a:ext cx="3801600" cy="738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2400" b="1" dirty="0">
                <a:latin typeface="+mj-lt"/>
                <a:ea typeface="Inter Bold" pitchFamily="34" charset="-122"/>
                <a:cs typeface="Inter Bold" pitchFamily="34" charset="-120"/>
              </a:rPr>
              <a:t>Plataforma, Ferramentas e </a:t>
            </a:r>
          </a:p>
          <a:p>
            <a:pPr>
              <a:lnSpc>
                <a:spcPts val="2350"/>
              </a:lnSpc>
            </a:pPr>
            <a:r>
              <a:rPr lang="en-US" sz="2400" b="1" dirty="0">
                <a:latin typeface="+mj-lt"/>
                <a:ea typeface="Inter Bold" pitchFamily="34" charset="-122"/>
                <a:cs typeface="Inter Bold" pitchFamily="34" charset="-120"/>
              </a:rPr>
              <a:t>Linguagens:</a:t>
            </a:r>
            <a:endParaRPr lang="en-US" sz="2400" b="1" dirty="0">
              <a:latin typeface="+mj-lt"/>
            </a:endParaRPr>
          </a:p>
          <a:p>
            <a:pPr marL="0" indent="0" algn="l">
              <a:lnSpc>
                <a:spcPts val="2350"/>
              </a:lnSpc>
              <a:buNone/>
            </a:pP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69726" y="3584497"/>
            <a:ext cx="4088488" cy="1652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dirty="0">
                <a:ea typeface="Inter" pitchFamily="34" charset="-122"/>
                <a:cs typeface="Inter" pitchFamily="34" charset="-120"/>
              </a:rPr>
              <a:t>•</a:t>
            </a:r>
            <a:r>
              <a:rPr lang="en-US" b="1" dirty="0">
                <a:ea typeface="Inter" pitchFamily="34" charset="-122"/>
                <a:cs typeface="Inter" pitchFamily="34" charset="-120"/>
              </a:rPr>
              <a:t> Plataforma: </a:t>
            </a:r>
            <a:r>
              <a:rPr lang="en-US" dirty="0">
                <a:ea typeface="Inter" pitchFamily="34" charset="-122"/>
                <a:cs typeface="Inter" pitchFamily="34" charset="-120"/>
              </a:rPr>
              <a:t>O projeto foi desenvolvido inteiramente em Front-End com HTML para estruturação , Bootstrap para estilização e JavaScript para interações dinâmicas.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163800" y="2405854"/>
            <a:ext cx="4302800" cy="5308163"/>
          </a:xfrm>
          <a:prstGeom prst="roundRect">
            <a:avLst>
              <a:gd name="adj" fmla="val 25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2" name="Shape 10"/>
          <p:cNvSpPr/>
          <p:nvPr/>
        </p:nvSpPr>
        <p:spPr>
          <a:xfrm>
            <a:off x="5163741" y="2370534"/>
            <a:ext cx="4302800" cy="91440"/>
          </a:xfrm>
          <a:prstGeom prst="roundRect">
            <a:avLst>
              <a:gd name="adj" fmla="val 87901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3" name="Shape 11"/>
          <p:cNvSpPr/>
          <p:nvPr/>
        </p:nvSpPr>
        <p:spPr>
          <a:xfrm>
            <a:off x="6999340" y="2106454"/>
            <a:ext cx="574000" cy="574000"/>
          </a:xfrm>
          <a:prstGeom prst="roundRect">
            <a:avLst>
              <a:gd name="adj" fmla="val 159303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4" name="Text 12"/>
          <p:cNvSpPr/>
          <p:nvPr/>
        </p:nvSpPr>
        <p:spPr>
          <a:xfrm>
            <a:off x="7200245" y="2249924"/>
            <a:ext cx="229553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+mj-lt"/>
                <a:ea typeface="Inter Bold" pitchFamily="34" charset="-122"/>
                <a:cs typeface="Inter Bold" pitchFamily="34" charset="-120"/>
              </a:rPr>
              <a:t>2</a:t>
            </a:r>
            <a:endParaRPr lang="en-US" sz="180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77934" y="2871788"/>
            <a:ext cx="2392085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+mj-lt"/>
                <a:ea typeface="Inter Bold" pitchFamily="34" charset="-122"/>
              </a:rPr>
              <a:t>Funcionalidades:</a:t>
            </a:r>
            <a:endParaRPr lang="en-US" sz="240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77934" y="3584496"/>
            <a:ext cx="3874413" cy="3881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dirty="0">
                <a:ea typeface="Inter" panose="020B0604020202020204" charset="0"/>
              </a:rPr>
              <a:t>•</a:t>
            </a:r>
            <a:r>
              <a:rPr lang="pt-BR" b="1" dirty="0">
                <a:ea typeface="Inter" panose="020B0604020202020204" charset="0"/>
              </a:rPr>
              <a:t>Perfis de Acesso:</a:t>
            </a:r>
            <a:r>
              <a:rPr lang="pt-BR" dirty="0">
                <a:ea typeface="Inter" panose="020B0604020202020204" charset="0"/>
              </a:rPr>
              <a:t> Três perfis com permissões específicas.</a:t>
            </a:r>
          </a:p>
          <a:p>
            <a:endParaRPr lang="pt-BR" dirty="0">
              <a:ea typeface="Inter" panose="020B0604020202020204" charset="0"/>
            </a:endParaRPr>
          </a:p>
          <a:p>
            <a:r>
              <a:rPr lang="pt-BR" dirty="0">
                <a:ea typeface="Inter" panose="020B0604020202020204" charset="0"/>
              </a:rPr>
              <a:t>•</a:t>
            </a:r>
            <a:r>
              <a:rPr lang="pt-BR" b="1" dirty="0">
                <a:ea typeface="Inter" panose="020B0604020202020204" charset="0"/>
              </a:rPr>
              <a:t>Kits Reutilizáveis:</a:t>
            </a:r>
            <a:r>
              <a:rPr lang="pt-BR" dirty="0">
                <a:ea typeface="Inter" panose="020B0604020202020204" charset="0"/>
              </a:rPr>
              <a:t> Permitir que professores criem e reutilizem listas de materiais (kits) para experimentos recorrentes.</a:t>
            </a:r>
          </a:p>
          <a:p>
            <a:endParaRPr lang="pt-BR" dirty="0">
              <a:ea typeface="Inter" panose="020B0604020202020204" charset="0"/>
            </a:endParaRPr>
          </a:p>
          <a:p>
            <a:r>
              <a:rPr lang="pt-BR" dirty="0">
                <a:ea typeface="Inter" panose="020B0604020202020204" charset="0"/>
              </a:rPr>
              <a:t>•</a:t>
            </a:r>
            <a:r>
              <a:rPr lang="pt-BR" b="1" dirty="0">
                <a:ea typeface="Inter" panose="020B0604020202020204" charset="0"/>
              </a:rPr>
              <a:t>Campo de Pós-Aula:</a:t>
            </a:r>
            <a:r>
              <a:rPr lang="pt-BR" dirty="0">
                <a:ea typeface="Inter" panose="020B0604020202020204" charset="0"/>
              </a:rPr>
              <a:t> O agendamento deve incluir um campo para o professor registrar resíduos gerados e materiais restantes.</a:t>
            </a:r>
          </a:p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657874" y="2393394"/>
            <a:ext cx="4302681" cy="5308163"/>
          </a:xfrm>
          <a:prstGeom prst="roundRect">
            <a:avLst>
              <a:gd name="adj" fmla="val 255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8" name="Shape 16"/>
          <p:cNvSpPr/>
          <p:nvPr/>
        </p:nvSpPr>
        <p:spPr>
          <a:xfrm>
            <a:off x="9657874" y="2370534"/>
            <a:ext cx="4302681" cy="91440"/>
          </a:xfrm>
          <a:prstGeom prst="roundRect">
            <a:avLst>
              <a:gd name="adj" fmla="val 87901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9" name="Shape 17"/>
          <p:cNvSpPr/>
          <p:nvPr/>
        </p:nvSpPr>
        <p:spPr>
          <a:xfrm>
            <a:off x="11522214" y="2106454"/>
            <a:ext cx="574000" cy="574000"/>
          </a:xfrm>
          <a:prstGeom prst="roundRect">
            <a:avLst>
              <a:gd name="adj" fmla="val 159303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/>
          <p:nvPr/>
        </p:nvSpPr>
        <p:spPr>
          <a:xfrm>
            <a:off x="11694378" y="2249924"/>
            <a:ext cx="229553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+mj-lt"/>
                <a:ea typeface="Inter Bold" pitchFamily="34" charset="-122"/>
                <a:cs typeface="Inter Bold" pitchFamily="34" charset="-120"/>
              </a:rPr>
              <a:t>3</a:t>
            </a:r>
            <a:endParaRPr lang="en-US" sz="1800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872067" y="2871788"/>
            <a:ext cx="3874294" cy="59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latin typeface="+mj-lt"/>
              </a:rPr>
              <a:t>Restrições:</a:t>
            </a:r>
          </a:p>
        </p:txBody>
      </p:sp>
      <p:sp>
        <p:nvSpPr>
          <p:cNvPr id="22" name="Text 20"/>
          <p:cNvSpPr/>
          <p:nvPr/>
        </p:nvSpPr>
        <p:spPr>
          <a:xfrm>
            <a:off x="9872067" y="3584496"/>
            <a:ext cx="3874294" cy="15305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pt-BR" dirty="0">
                <a:ea typeface="Inter" panose="020B0604020202020204" charset="0"/>
              </a:rPr>
              <a:t>• </a:t>
            </a:r>
            <a:r>
              <a:rPr lang="en-US" b="1" dirty="0">
                <a:ea typeface="Inter" pitchFamily="34" charset="-122"/>
                <a:cs typeface="Inter" pitchFamily="34" charset="-120"/>
              </a:rPr>
              <a:t>Controle de Prazo:</a:t>
            </a:r>
            <a:r>
              <a:rPr lang="en-US" dirty="0">
                <a:ea typeface="Inter" pitchFamily="34" charset="-122"/>
                <a:cs typeface="Inter" pitchFamily="34" charset="-120"/>
              </a:rPr>
              <a:t> O sistema não permitirá agendamentos com menos de 48 horas de antecedência nem com mais de 1 mês.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9727" y="6311892"/>
            <a:ext cx="3908887" cy="138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dirty="0">
                <a:ea typeface="Inter" pitchFamily="34" charset="-122"/>
                <a:cs typeface="Inter" pitchFamily="34" charset="-120"/>
              </a:rPr>
              <a:t>• </a:t>
            </a:r>
            <a:r>
              <a:rPr lang="en-US" b="1" dirty="0">
                <a:ea typeface="Inter" pitchFamily="34" charset="-122"/>
                <a:cs typeface="Inter" pitchFamily="34" charset="-120"/>
              </a:rPr>
              <a:t>Linguagem (BD): </a:t>
            </a:r>
            <a:r>
              <a:rPr lang="en-US" dirty="0">
                <a:ea typeface="Inter" pitchFamily="34" charset="-122"/>
                <a:cs typeface="Inter" pitchFamily="34" charset="-120"/>
              </a:rPr>
              <a:t>A tecnologia recomendada para a persistência de dados é SQL, através de um SGBD Relacional como o MySQL Workbench</a:t>
            </a: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A69F363D-0981-54A0-4BEB-581057373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6400" y="6719918"/>
            <a:ext cx="2669389" cy="1239880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1ECE7F6-AE23-16F8-3861-C893B795F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5200" y="7934284"/>
            <a:ext cx="1728675" cy="295316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5DAFF1F6-3D9E-93AD-0708-F7D3E5142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16222" y="7826401"/>
            <a:ext cx="215768" cy="107884"/>
          </a:xfrm>
          <a:prstGeom prst="rect">
            <a:avLst/>
          </a:prstGeom>
        </p:spPr>
      </p:pic>
      <p:sp>
        <p:nvSpPr>
          <p:cNvPr id="28" name="Text 17">
            <a:extLst>
              <a:ext uri="{FF2B5EF4-FFF2-40B4-BE49-F238E27FC236}">
                <a16:creationId xmlns:a16="http://schemas.microsoft.com/office/drawing/2014/main" id="{F7949130-9327-FACA-5A30-B87BDDA8669E}"/>
              </a:ext>
            </a:extLst>
          </p:cNvPr>
          <p:cNvSpPr/>
          <p:nvPr/>
        </p:nvSpPr>
        <p:spPr>
          <a:xfrm>
            <a:off x="244800" y="7811883"/>
            <a:ext cx="4333814" cy="29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516485"/>
                </a:solidFill>
                <a:ea typeface="Inter" pitchFamily="34" charset="-122"/>
                <a:cs typeface="Inter" pitchFamily="34" charset="-120"/>
              </a:rPr>
              <a:t>Projeto Integrador Interdiciplinar</a:t>
            </a:r>
            <a:endParaRPr lang="en-US" sz="1600" dirty="0">
              <a:solidFill>
                <a:srgbClr val="516485"/>
              </a:solidFill>
            </a:endParaRPr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5DBB220F-7341-67B1-B23C-FBB01F8E62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0" y="-14072"/>
            <a:ext cx="14630400" cy="1688956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69727" y="5189370"/>
            <a:ext cx="4147073" cy="1073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•</a:t>
            </a:r>
            <a:r>
              <a:rPr lang="en-US" b="1" dirty="0">
                <a:ea typeface="Inter" pitchFamily="34" charset="-122"/>
                <a:cs typeface="Inter" pitchFamily="34" charset="-120"/>
              </a:rPr>
              <a:t>Ferramentas de Design: </a:t>
            </a:r>
            <a:r>
              <a:rPr lang="en-US" dirty="0">
                <a:ea typeface="Inter" pitchFamily="34" charset="-122"/>
                <a:cs typeface="Inter" pitchFamily="34" charset="-120"/>
              </a:rPr>
              <a:t>Figma (para wireframes e mockups) e Canva (para elementos visuais).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8907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204C8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763310" y="2089071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Text 2"/>
          <p:cNvSpPr/>
          <p:nvPr/>
        </p:nvSpPr>
        <p:spPr>
          <a:xfrm>
            <a:off x="1142524" y="23463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+mj-lt"/>
                <a:ea typeface="Inter Bold" pitchFamily="34" charset="-122"/>
                <a:cs typeface="Inter Bold" pitchFamily="34" charset="-120"/>
              </a:rPr>
              <a:t>Base</a:t>
            </a:r>
            <a:endParaRPr lang="en-US" sz="28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2524" y="283678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ea typeface="Inter" pitchFamily="34" charset="-122"/>
                <a:cs typeface="Inter" pitchFamily="34" charset="-120"/>
              </a:rPr>
              <a:t>A identidade visual foi baseada no site oficial da ETEC Júlio de Mesquita para garantir consistência.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428548" y="208907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204C8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7" name="Shape 5"/>
          <p:cNvSpPr/>
          <p:nvPr/>
        </p:nvSpPr>
        <p:spPr>
          <a:xfrm>
            <a:off x="7398067" y="2089071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8" name="Text 6"/>
          <p:cNvSpPr/>
          <p:nvPr/>
        </p:nvSpPr>
        <p:spPr>
          <a:xfrm>
            <a:off x="7777282" y="23463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+mj-lt"/>
                <a:ea typeface="Inter Bold" pitchFamily="34" charset="-122"/>
                <a:cs typeface="Inter Bold" pitchFamily="34" charset="-120"/>
              </a:rPr>
              <a:t>Fonte</a:t>
            </a:r>
            <a:endParaRPr lang="en-US" sz="24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7282" y="283678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ea typeface="Inter" pitchFamily="34" charset="-122"/>
                <a:cs typeface="Inter" pitchFamily="34" charset="-120"/>
              </a:rPr>
              <a:t>Família tipográfica roboto slab, por ser limpa e de fácil leitura.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93790" y="4046696"/>
            <a:ext cx="6407944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204C8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Shape 9"/>
          <p:cNvSpPr/>
          <p:nvPr/>
        </p:nvSpPr>
        <p:spPr>
          <a:xfrm>
            <a:off x="763310" y="4046696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/>
          <p:nvPr/>
        </p:nvSpPr>
        <p:spPr>
          <a:xfrm>
            <a:off x="1142524" y="43039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latin typeface="+mj-lt"/>
                <a:ea typeface="Inter Bold" pitchFamily="34" charset="-122"/>
                <a:cs typeface="Inter Bold" pitchFamily="34" charset="-120"/>
              </a:rPr>
              <a:t>Paleta de Cores</a:t>
            </a:r>
            <a:endParaRPr lang="en-US" sz="28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2524" y="4794409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ea typeface="Inter" pitchFamily="34" charset="-122"/>
                <a:cs typeface="Inter" pitchFamily="34" charset="-120"/>
              </a:rPr>
              <a:t>Composta por tons de azul marinho e cinza , usando o vermelho do logo do Centro Paula Souza como cor de destaque e branco como fundo principal.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428548" y="4046696"/>
            <a:ext cx="6408063" cy="2093714"/>
          </a:xfrm>
          <a:prstGeom prst="roundRect">
            <a:avLst>
              <a:gd name="adj" fmla="val 6988"/>
            </a:avLst>
          </a:prstGeom>
          <a:solidFill>
            <a:srgbClr val="FFFFFF"/>
          </a:solidFill>
          <a:ln w="30480">
            <a:solidFill>
              <a:srgbClr val="204C8E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Shape 13"/>
          <p:cNvSpPr/>
          <p:nvPr/>
        </p:nvSpPr>
        <p:spPr>
          <a:xfrm>
            <a:off x="7398067" y="4046696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6" name="Text 14"/>
          <p:cNvSpPr/>
          <p:nvPr/>
        </p:nvSpPr>
        <p:spPr>
          <a:xfrm>
            <a:off x="7777282" y="43039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+mj-lt"/>
                <a:ea typeface="Inter Bold" pitchFamily="34" charset="-122"/>
                <a:cs typeface="Inter Bold" pitchFamily="34" charset="-120"/>
              </a:rPr>
              <a:t>Layout</a:t>
            </a:r>
            <a:endParaRPr lang="en-US" sz="2400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77282" y="4794409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ea typeface="Inter" pitchFamily="34" charset="-122"/>
                <a:cs typeface="Inter" pitchFamily="34" charset="-120"/>
              </a:rPr>
              <a:t>Simples e com visual profissional, utilizando ícones intuitivos e hierarquia de títulos clara.</a:t>
            </a:r>
            <a:endParaRPr lang="en-US" sz="20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A974D00A-BB2C-7C2D-2EA0-CB1D9B18C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6222" y="7826401"/>
            <a:ext cx="215768" cy="107884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03C1FC6C-60B4-C144-D073-F60FE347B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6400" y="6719918"/>
            <a:ext cx="2669389" cy="123988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6075B062-1A2D-AED1-42F4-656A1C0055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5200" y="7934284"/>
            <a:ext cx="1728675" cy="295316"/>
          </a:xfrm>
          <a:prstGeom prst="rect">
            <a:avLst/>
          </a:prstGeom>
        </p:spPr>
      </p:pic>
      <p:sp>
        <p:nvSpPr>
          <p:cNvPr id="21" name="Text 17">
            <a:extLst>
              <a:ext uri="{FF2B5EF4-FFF2-40B4-BE49-F238E27FC236}">
                <a16:creationId xmlns:a16="http://schemas.microsoft.com/office/drawing/2014/main" id="{22412E4B-FC63-4368-209D-23FEF59E40E7}"/>
              </a:ext>
            </a:extLst>
          </p:cNvPr>
          <p:cNvSpPr/>
          <p:nvPr/>
        </p:nvSpPr>
        <p:spPr>
          <a:xfrm>
            <a:off x="244800" y="7811883"/>
            <a:ext cx="4333814" cy="29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2E5496"/>
                </a:solidFill>
                <a:ea typeface="Inter" pitchFamily="34" charset="-122"/>
                <a:cs typeface="Inter" pitchFamily="34" charset="-120"/>
              </a:rPr>
              <a:t>Projeto Integrador Interdiciplinar</a:t>
            </a:r>
            <a:endParaRPr lang="en-US" sz="1600" dirty="0">
              <a:solidFill>
                <a:srgbClr val="2E5496"/>
              </a:solidFill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A34AC1DA-ACEE-A79B-8AA2-E3302A9792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5" y="-7722"/>
            <a:ext cx="14630400" cy="16970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262783"/>
            <a:ext cx="6407944" cy="3831302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3" name="Shape 1"/>
          <p:cNvSpPr/>
          <p:nvPr/>
        </p:nvSpPr>
        <p:spPr>
          <a:xfrm>
            <a:off x="759579" y="2262784"/>
            <a:ext cx="121920" cy="3829200"/>
          </a:xfrm>
          <a:prstGeom prst="roundRect">
            <a:avLst>
              <a:gd name="adj" fmla="val 78139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Text 2"/>
          <p:cNvSpPr/>
          <p:nvPr/>
        </p:nvSpPr>
        <p:spPr>
          <a:xfrm>
            <a:off x="1142524" y="2520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+mj-lt"/>
                <a:ea typeface="Inter Bold" pitchFamily="34" charset="-122"/>
                <a:cs typeface="Inter Bold" pitchFamily="34" charset="-120"/>
              </a:rPr>
              <a:t>Wireframes:</a:t>
            </a:r>
            <a:endParaRPr lang="en-US" sz="28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42524" y="3010495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ea typeface="Inter" pitchFamily="34" charset="-122"/>
                <a:cs typeface="Inter" pitchFamily="34" charset="-120"/>
              </a:rPr>
              <a:t>Foram criados wireframes detalhados para: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2524" y="3509486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ea typeface="Inter" pitchFamily="34" charset="-122"/>
                <a:cs typeface="Inter" pitchFamily="34" charset="-120"/>
              </a:rPr>
              <a:t>Área comum de todos os usuários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2524" y="3951684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ea typeface="Inter" pitchFamily="34" charset="-122"/>
                <a:cs typeface="Inter" pitchFamily="34" charset="-120"/>
              </a:rPr>
              <a:t>Áreas de professores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2524" y="4393883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ea typeface="Inter" pitchFamily="34" charset="-122"/>
                <a:cs typeface="Inter" pitchFamily="34" charset="-120"/>
              </a:rPr>
              <a:t>Áreas de técnicos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2524" y="4836081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ea typeface="Inter" pitchFamily="34" charset="-122"/>
                <a:cs typeface="Inter" pitchFamily="34" charset="-120"/>
              </a:rPr>
              <a:t>Área de administradores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28548" y="2262783"/>
            <a:ext cx="6408063" cy="3850017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Shape 9"/>
          <p:cNvSpPr/>
          <p:nvPr/>
        </p:nvSpPr>
        <p:spPr>
          <a:xfrm>
            <a:off x="7398067" y="2262783"/>
            <a:ext cx="121920" cy="3850017"/>
          </a:xfrm>
          <a:prstGeom prst="roundRect">
            <a:avLst>
              <a:gd name="adj" fmla="val 78139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2" name="Text 10"/>
          <p:cNvSpPr/>
          <p:nvPr/>
        </p:nvSpPr>
        <p:spPr>
          <a:xfrm>
            <a:off x="7777282" y="2520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+mj-lt"/>
                <a:ea typeface="Inter Bold" pitchFamily="34" charset="-122"/>
                <a:cs typeface="Inter Bold" pitchFamily="34" charset="-120"/>
              </a:rPr>
              <a:t>Mockups:</a:t>
            </a:r>
            <a:endParaRPr lang="en-US" sz="28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7282" y="3010495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ea typeface="Inter" pitchFamily="34" charset="-122"/>
                <a:cs typeface="Inter" pitchFamily="34" charset="-120"/>
              </a:rPr>
              <a:t>Portal de Acesso:</a:t>
            </a:r>
            <a:r>
              <a:rPr lang="en-US" sz="2000" dirty="0">
                <a:ea typeface="Inter" pitchFamily="34" charset="-122"/>
                <a:cs typeface="Inter" pitchFamily="34" charset="-120"/>
              </a:rPr>
              <a:t> Tela inicial de autenticação com seleção de perfil (Professor ou Técnico) e formulário de login.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777282" y="4178498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ea typeface="Inter" pitchFamily="34" charset="-122"/>
                <a:cs typeface="Inter" pitchFamily="34" charset="-120"/>
              </a:rPr>
              <a:t>Painel de Gestão de Materiais:</a:t>
            </a:r>
            <a:r>
              <a:rPr lang="en-US" sz="2000" dirty="0">
                <a:ea typeface="Inter" pitchFamily="34" charset="-122"/>
                <a:cs typeface="Inter" pitchFamily="34" charset="-120"/>
              </a:rPr>
              <a:t> Painel para gerenciamento de solicitações e inventário.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777282" y="4983599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ea typeface="Inter" pitchFamily="34" charset="-122"/>
                <a:cs typeface="Inter" pitchFamily="34" charset="-120"/>
              </a:rPr>
              <a:t>Sistema de Agendamento:</a:t>
            </a:r>
            <a:r>
              <a:rPr lang="en-US" sz="2000" dirty="0">
                <a:ea typeface="Inter" pitchFamily="34" charset="-122"/>
                <a:cs typeface="Inter" pitchFamily="34" charset="-120"/>
              </a:rPr>
              <a:t> Interface principal com grade de horários, filtros e modal de reserva.</a:t>
            </a:r>
            <a:endParaRPr lang="en-US" sz="2000" dirty="0"/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157A305D-FAD4-60F9-10D0-7D291D997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6222" y="7826401"/>
            <a:ext cx="215768" cy="107884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E3C7B38-DBC7-0CD7-6A5B-FD04C578A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6400" y="6719918"/>
            <a:ext cx="2669389" cy="123988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3EFFB08D-6259-1D1C-0AB2-9D21E9913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5200" y="7934284"/>
            <a:ext cx="1728675" cy="295316"/>
          </a:xfrm>
          <a:prstGeom prst="rect">
            <a:avLst/>
          </a:prstGeom>
        </p:spPr>
      </p:pic>
      <p:sp>
        <p:nvSpPr>
          <p:cNvPr id="19" name="Text 17">
            <a:extLst>
              <a:ext uri="{FF2B5EF4-FFF2-40B4-BE49-F238E27FC236}">
                <a16:creationId xmlns:a16="http://schemas.microsoft.com/office/drawing/2014/main" id="{BCA221BB-056E-0B10-7A26-3F763D742053}"/>
              </a:ext>
            </a:extLst>
          </p:cNvPr>
          <p:cNvSpPr/>
          <p:nvPr/>
        </p:nvSpPr>
        <p:spPr>
          <a:xfrm>
            <a:off x="244800" y="7811883"/>
            <a:ext cx="4333814" cy="29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516485"/>
                </a:solidFill>
                <a:ea typeface="Inter" pitchFamily="34" charset="-122"/>
                <a:cs typeface="Inter" pitchFamily="34" charset="-120"/>
              </a:rPr>
              <a:t>Projeto Integrador Interdiciplinar</a:t>
            </a:r>
            <a:endParaRPr lang="en-US" sz="1600" dirty="0">
              <a:solidFill>
                <a:srgbClr val="516485"/>
              </a:solidFill>
            </a:endParaRP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1F0CD509-8537-B8C7-78EE-4198A2DB3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5" y="-27799"/>
            <a:ext cx="14630400" cy="16833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14587"/>
          <a:stretch>
            <a:fillRect/>
          </a:stretch>
        </p:blipFill>
        <p:spPr>
          <a:xfrm>
            <a:off x="244800" y="2632313"/>
            <a:ext cx="5639031" cy="34621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78806"/>
            <a:ext cx="7556421" cy="1360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400" dirty="0">
                <a:ea typeface="Inter" pitchFamily="34" charset="-122"/>
                <a:cs typeface="Inter" pitchFamily="34" charset="-120"/>
              </a:rPr>
              <a:t>A acessibilidade foi considerada um requisito essencial para o projeto , seguindo os princípios das Diretrizes de Acessibilidade (WCAG).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280190" y="3494484"/>
            <a:ext cx="3664744" cy="868918"/>
          </a:xfrm>
          <a:prstGeom prst="roundRect">
            <a:avLst>
              <a:gd name="adj" fmla="val 16837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Shape 2"/>
          <p:cNvSpPr/>
          <p:nvPr/>
        </p:nvSpPr>
        <p:spPr>
          <a:xfrm>
            <a:off x="6249710" y="3494484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6" name="Text 3"/>
          <p:cNvSpPr/>
          <p:nvPr/>
        </p:nvSpPr>
        <p:spPr>
          <a:xfrm>
            <a:off x="6628924" y="37517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ea typeface="Inter Bold" pitchFamily="34" charset="-122"/>
                <a:cs typeface="Inter Bold" pitchFamily="34" charset="-120"/>
              </a:rPr>
              <a:t>Contraste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171748" y="3494484"/>
            <a:ext cx="3664863" cy="868918"/>
          </a:xfrm>
          <a:prstGeom prst="roundRect">
            <a:avLst>
              <a:gd name="adj" fmla="val 16837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8" name="Shape 5"/>
          <p:cNvSpPr/>
          <p:nvPr/>
        </p:nvSpPr>
        <p:spPr>
          <a:xfrm>
            <a:off x="10141268" y="3494484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9" name="Text 6"/>
          <p:cNvSpPr/>
          <p:nvPr/>
        </p:nvSpPr>
        <p:spPr>
          <a:xfrm>
            <a:off x="10520482" y="37517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ea typeface="Inter Bold" pitchFamily="34" charset="-122"/>
                <a:cs typeface="Inter Bold" pitchFamily="34" charset="-120"/>
              </a:rPr>
              <a:t>Identificação Visual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280190" y="4590217"/>
            <a:ext cx="3664744" cy="868918"/>
          </a:xfrm>
          <a:prstGeom prst="roundRect">
            <a:avLst>
              <a:gd name="adj" fmla="val 16837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1" name="Shape 8"/>
          <p:cNvSpPr/>
          <p:nvPr/>
        </p:nvSpPr>
        <p:spPr>
          <a:xfrm>
            <a:off x="6249710" y="4590217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2" name="Text 9"/>
          <p:cNvSpPr/>
          <p:nvPr/>
        </p:nvSpPr>
        <p:spPr>
          <a:xfrm>
            <a:off x="6628924" y="4847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ea typeface="Inter Bold" pitchFamily="34" charset="-122"/>
                <a:cs typeface="Inter Bold" pitchFamily="34" charset="-120"/>
              </a:rPr>
              <a:t>Estrutura Semântica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171748" y="4590217"/>
            <a:ext cx="3664863" cy="868918"/>
          </a:xfrm>
          <a:prstGeom prst="roundRect">
            <a:avLst>
              <a:gd name="adj" fmla="val 16837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4" name="Shape 11"/>
          <p:cNvSpPr/>
          <p:nvPr/>
        </p:nvSpPr>
        <p:spPr>
          <a:xfrm>
            <a:off x="10141268" y="4590217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5" name="Text 12"/>
          <p:cNvSpPr/>
          <p:nvPr/>
        </p:nvSpPr>
        <p:spPr>
          <a:xfrm>
            <a:off x="10520482" y="48475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ea typeface="Inter Bold" pitchFamily="34" charset="-122"/>
                <a:cs typeface="Inter Bold" pitchFamily="34" charset="-120"/>
              </a:rPr>
              <a:t>Vlibras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6280190" y="5685949"/>
            <a:ext cx="3664744" cy="868918"/>
          </a:xfrm>
          <a:prstGeom prst="roundRect">
            <a:avLst>
              <a:gd name="adj" fmla="val 16837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Shape 14"/>
          <p:cNvSpPr/>
          <p:nvPr/>
        </p:nvSpPr>
        <p:spPr>
          <a:xfrm>
            <a:off x="6249710" y="5685949"/>
            <a:ext cx="121920" cy="868918"/>
          </a:xfrm>
          <a:prstGeom prst="roundRect">
            <a:avLst>
              <a:gd name="adj" fmla="val 78139"/>
            </a:avLst>
          </a:prstGeom>
          <a:solidFill>
            <a:srgbClr val="1A317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18" name="Text 15"/>
          <p:cNvSpPr/>
          <p:nvPr/>
        </p:nvSpPr>
        <p:spPr>
          <a:xfrm>
            <a:off x="6628924" y="5943243"/>
            <a:ext cx="29196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ea typeface="Inter Bold" pitchFamily="34" charset="-122"/>
                <a:cs typeface="Inter Bold" pitchFamily="34" charset="-120"/>
              </a:rPr>
              <a:t>Filtros de Daltonismo</a:t>
            </a:r>
            <a:endParaRPr lang="en-US" sz="240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FF6FA8C7-6FA5-71EB-3BC1-AC2EB7480A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6222" y="7826401"/>
            <a:ext cx="215768" cy="107884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748BAC6C-BC73-B3F7-F48C-280090F029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86400" y="6719918"/>
            <a:ext cx="2669389" cy="123988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0D41F13D-4781-445A-BC5D-5665F95DA6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95200" y="7934284"/>
            <a:ext cx="1728675" cy="295316"/>
          </a:xfrm>
          <a:prstGeom prst="rect">
            <a:avLst/>
          </a:prstGeom>
        </p:spPr>
      </p:pic>
      <p:sp>
        <p:nvSpPr>
          <p:cNvPr id="22" name="Text 17">
            <a:extLst>
              <a:ext uri="{FF2B5EF4-FFF2-40B4-BE49-F238E27FC236}">
                <a16:creationId xmlns:a16="http://schemas.microsoft.com/office/drawing/2014/main" id="{CDF3113F-AE0B-45FA-62BB-EA48CB9AFF07}"/>
              </a:ext>
            </a:extLst>
          </p:cNvPr>
          <p:cNvSpPr/>
          <p:nvPr/>
        </p:nvSpPr>
        <p:spPr>
          <a:xfrm>
            <a:off x="244800" y="7811883"/>
            <a:ext cx="4333814" cy="29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516485"/>
                </a:solidFill>
                <a:ea typeface="Inter" pitchFamily="34" charset="-122"/>
                <a:cs typeface="Inter" pitchFamily="34" charset="-120"/>
              </a:rPr>
              <a:t>Projeto Integrador Interdiciplinar</a:t>
            </a:r>
            <a:endParaRPr lang="en-US" sz="1600" dirty="0">
              <a:solidFill>
                <a:srgbClr val="516485"/>
              </a:solidFill>
            </a:endParaRP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522D3697-D521-508C-451D-4750FB83CC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526" y="-22529"/>
            <a:ext cx="14638516" cy="1674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32460" y="2081575"/>
            <a:ext cx="4334708" cy="542092"/>
          </a:xfrm>
          <a:prstGeom prst="roundRect">
            <a:avLst>
              <a:gd name="adj" fmla="val 48003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4" name="Text 1"/>
          <p:cNvSpPr/>
          <p:nvPr/>
        </p:nvSpPr>
        <p:spPr>
          <a:xfrm>
            <a:off x="2664262" y="2223781"/>
            <a:ext cx="270986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+mj-lt"/>
                <a:ea typeface="Inter Bold" pitchFamily="34" charset="-122"/>
                <a:cs typeface="Inter Bold" pitchFamily="34" charset="-120"/>
              </a:rPr>
              <a:t>1</a:t>
            </a:r>
            <a:endParaRPr lang="en-US" sz="2400" dirty="0">
              <a:latin typeface="+mj-lt"/>
            </a:endParaRPr>
          </a:p>
        </p:txBody>
      </p:sp>
      <p:sp>
        <p:nvSpPr>
          <p:cNvPr id="5" name="Text 2"/>
          <p:cNvSpPr/>
          <p:nvPr/>
        </p:nvSpPr>
        <p:spPr>
          <a:xfrm>
            <a:off x="813078" y="2844811"/>
            <a:ext cx="2258854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b="1" dirty="0">
                <a:latin typeface="+mj-lt"/>
                <a:ea typeface="Inter Bold" pitchFamily="34" charset="-122"/>
                <a:cs typeface="Inter Bold" pitchFamily="34" charset="-120"/>
              </a:rPr>
              <a:t>Plano de Teste:</a:t>
            </a:r>
            <a:endParaRPr lang="en-US" sz="28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813078" y="3235455"/>
            <a:ext cx="3973473" cy="86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ea typeface="Inter" pitchFamily="34" charset="-122"/>
                <a:cs typeface="Inter" pitchFamily="34" charset="-120"/>
              </a:rPr>
              <a:t>•</a:t>
            </a:r>
            <a:r>
              <a:rPr lang="en-US" b="1" dirty="0">
                <a:ea typeface="Inter" pitchFamily="34" charset="-122"/>
                <a:cs typeface="Inter" pitchFamily="34" charset="-120"/>
              </a:rPr>
              <a:t>Público:</a:t>
            </a:r>
            <a:r>
              <a:rPr lang="en-US" dirty="0">
                <a:ea typeface="Inter" pitchFamily="34" charset="-122"/>
                <a:cs typeface="Inter" pitchFamily="34" charset="-120"/>
              </a:rPr>
              <a:t> O teste incluiria um representante para cada persona (Professor, Técnico, Administrador).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813078" y="4211053"/>
            <a:ext cx="3973473" cy="1445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•</a:t>
            </a:r>
            <a:r>
              <a:rPr lang="en-US" b="1" dirty="0">
                <a:ea typeface="Inter" pitchFamily="34" charset="-122"/>
                <a:cs typeface="Inter" pitchFamily="34" charset="-120"/>
              </a:rPr>
              <a:t>Tarefas:</a:t>
            </a:r>
            <a:r>
              <a:rPr lang="en-US" dirty="0">
                <a:ea typeface="Inter" pitchFamily="34" charset="-122"/>
                <a:cs typeface="Inter" pitchFamily="34" charset="-120"/>
              </a:rPr>
              <a:t> Os usuários realizariam tarefas críticas simulando o uso real , como "Agendar aula" (T1) , “Criar Kit" (T2) , "Cadastrar Novo Professor" (T3).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813078" y="5764819"/>
            <a:ext cx="3973473" cy="1156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•</a:t>
            </a:r>
            <a:r>
              <a:rPr lang="en-US" b="1" dirty="0">
                <a:ea typeface="Inter" pitchFamily="34" charset="-122"/>
                <a:cs typeface="Inter" pitchFamily="34" charset="-120"/>
              </a:rPr>
              <a:t>Métricas:</a:t>
            </a:r>
            <a:r>
              <a:rPr lang="en-US" dirty="0">
                <a:ea typeface="Inter" pitchFamily="34" charset="-122"/>
                <a:cs typeface="Inter" pitchFamily="34" charset="-120"/>
              </a:rPr>
              <a:t> Seriam coletadas métricas quantitativas (Taxa de Sucesso, Tempo de Conclusão, Taxa de Erros) e qualitativas (Escala de Satisfação SUS).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147786" y="2081575"/>
            <a:ext cx="4334708" cy="542092"/>
          </a:xfrm>
          <a:prstGeom prst="roundRect">
            <a:avLst>
              <a:gd name="adj" fmla="val 48003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0" name="Text 7"/>
          <p:cNvSpPr/>
          <p:nvPr/>
        </p:nvSpPr>
        <p:spPr>
          <a:xfrm>
            <a:off x="7179588" y="2223781"/>
            <a:ext cx="270986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+mj-lt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>
              <a:latin typeface="+mj-l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28404" y="2844811"/>
            <a:ext cx="2378154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b="1" dirty="0">
                <a:latin typeface="+mj-lt"/>
                <a:ea typeface="Inter Bold" pitchFamily="34" charset="-122"/>
                <a:cs typeface="Inter Bold" pitchFamily="34" charset="-120"/>
              </a:rPr>
              <a:t>O que foi descoberto:</a:t>
            </a:r>
            <a:endParaRPr lang="en-US" sz="2800" dirty="0">
              <a:latin typeface="+mj-l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328404" y="3235455"/>
            <a:ext cx="3973473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ea typeface="Inter" pitchFamily="34" charset="-122"/>
                <a:cs typeface="Inter" pitchFamily="34" charset="-120"/>
              </a:rPr>
              <a:t>•</a:t>
            </a:r>
            <a:r>
              <a:rPr lang="en-US" b="1" dirty="0">
                <a:ea typeface="Inter" pitchFamily="34" charset="-122"/>
                <a:cs typeface="Inter" pitchFamily="34" charset="-120"/>
              </a:rPr>
              <a:t>Taxa de Sucesso:</a:t>
            </a:r>
            <a:r>
              <a:rPr lang="en-US" dirty="0">
                <a:ea typeface="Inter" pitchFamily="34" charset="-122"/>
                <a:cs typeface="Inter" pitchFamily="34" charset="-120"/>
              </a:rPr>
              <a:t> 100% em todas as três tarefas testadas.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28404" y="3921969"/>
            <a:ext cx="3973473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ea typeface="Inter" pitchFamily="34" charset="-122"/>
                <a:cs typeface="Inter" pitchFamily="34" charset="-120"/>
              </a:rPr>
              <a:t>•</a:t>
            </a:r>
            <a:r>
              <a:rPr lang="en-US" b="1" dirty="0">
                <a:ea typeface="Inter" pitchFamily="34" charset="-122"/>
                <a:cs typeface="Inter" pitchFamily="34" charset="-120"/>
              </a:rPr>
              <a:t>Tempo Médio por Tarefa:</a:t>
            </a:r>
            <a:r>
              <a:rPr lang="en-US" dirty="0">
                <a:ea typeface="Inter" pitchFamily="34" charset="-122"/>
                <a:cs typeface="Inter" pitchFamily="34" charset="-120"/>
              </a:rPr>
              <a:t> T1 (25s), T2 (38s), T3 (52s).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328404" y="4608484"/>
            <a:ext cx="3973473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•</a:t>
            </a:r>
            <a:r>
              <a:rPr lang="en-US" b="1" dirty="0">
                <a:ea typeface="Inter" pitchFamily="34" charset="-122"/>
                <a:cs typeface="Inter" pitchFamily="34" charset="-120"/>
              </a:rPr>
              <a:t>Pontuação SUS (Média):</a:t>
            </a:r>
            <a:r>
              <a:rPr lang="en-US" dirty="0">
                <a:ea typeface="Inter" pitchFamily="34" charset="-122"/>
                <a:cs typeface="Inter" pitchFamily="34" charset="-120"/>
              </a:rPr>
              <a:t> 85%.</a:t>
            </a: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328404" y="5005914"/>
            <a:ext cx="3973473" cy="1445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•</a:t>
            </a:r>
            <a:r>
              <a:rPr lang="en-US" b="1" dirty="0">
                <a:ea typeface="Inter" pitchFamily="34" charset="-122"/>
                <a:cs typeface="Inter" pitchFamily="34" charset="-120"/>
              </a:rPr>
              <a:t>Feedback Qualitativo:</a:t>
            </a:r>
            <a:r>
              <a:rPr lang="en-US" dirty="0">
                <a:ea typeface="Inter" pitchFamily="34" charset="-122"/>
                <a:cs typeface="Inter" pitchFamily="34" charset="-120"/>
              </a:rPr>
              <a:t> Incluiu comentários como "Foi bem prático" , mas também "Leve dificuldade ao escolher os itens" e "Demorei um pouco porque tinha vários itens complementares".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9663232" y="2064742"/>
            <a:ext cx="4334708" cy="542092"/>
          </a:xfrm>
          <a:prstGeom prst="roundRect">
            <a:avLst>
              <a:gd name="adj" fmla="val 48003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7" name="Text 14"/>
          <p:cNvSpPr/>
          <p:nvPr/>
        </p:nvSpPr>
        <p:spPr>
          <a:xfrm>
            <a:off x="11694914" y="2223781"/>
            <a:ext cx="270986" cy="338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9843730" y="2844811"/>
            <a:ext cx="2258854" cy="282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b="1" dirty="0">
                <a:latin typeface="+mj-lt"/>
                <a:ea typeface="Inter Bold" pitchFamily="34" charset="-122"/>
                <a:cs typeface="Inter Bold" pitchFamily="34" charset="-120"/>
              </a:rPr>
              <a:t>Ajustes:</a:t>
            </a:r>
            <a:endParaRPr lang="en-US" sz="2800" dirty="0">
              <a:latin typeface="+mj-lt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843730" y="3235455"/>
            <a:ext cx="3973473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•</a:t>
            </a:r>
            <a:r>
              <a:rPr lang="en-US" dirty="0">
                <a:ea typeface="Inter" pitchFamily="34" charset="-122"/>
                <a:cs typeface="Inter" pitchFamily="34" charset="-120"/>
              </a:rPr>
              <a:t>Melhoria na visualização dos blocos de horários (50 minutos) no calendário.</a:t>
            </a: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9843730" y="3921969"/>
            <a:ext cx="3973473" cy="578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dirty="0">
                <a:ea typeface="Inter" pitchFamily="34" charset="-122"/>
                <a:cs typeface="Inter" pitchFamily="34" charset="-120"/>
              </a:rPr>
              <a:t>•Aprimoramento da interface do campo de Pós-Aula (resíduos).</a:t>
            </a:r>
            <a:endParaRPr lang="en-US" dirty="0"/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2FB882D5-F725-056F-C6F3-FE58768E1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6222" y="7826401"/>
            <a:ext cx="215768" cy="107884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DDF8FE3B-D26E-3A8C-4E6B-E9880724D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6400" y="6719918"/>
            <a:ext cx="2669389" cy="123988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9724F8C5-49CE-5C21-C512-85D1155F8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5200" y="7934284"/>
            <a:ext cx="1728675" cy="295316"/>
          </a:xfrm>
          <a:prstGeom prst="rect">
            <a:avLst/>
          </a:prstGeom>
        </p:spPr>
      </p:pic>
      <p:sp>
        <p:nvSpPr>
          <p:cNvPr id="24" name="Text 17">
            <a:extLst>
              <a:ext uri="{FF2B5EF4-FFF2-40B4-BE49-F238E27FC236}">
                <a16:creationId xmlns:a16="http://schemas.microsoft.com/office/drawing/2014/main" id="{B63B481E-8985-3CDA-2649-5624488A5CFD}"/>
              </a:ext>
            </a:extLst>
          </p:cNvPr>
          <p:cNvSpPr/>
          <p:nvPr/>
        </p:nvSpPr>
        <p:spPr>
          <a:xfrm>
            <a:off x="244800" y="7811883"/>
            <a:ext cx="4333814" cy="29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516485"/>
                </a:solidFill>
                <a:ea typeface="Inter" pitchFamily="34" charset="-122"/>
                <a:cs typeface="Inter" pitchFamily="34" charset="-120"/>
              </a:rPr>
              <a:t>Projeto Integrador Interdiciplinar</a:t>
            </a:r>
            <a:endParaRPr lang="en-US" sz="1600" dirty="0">
              <a:solidFill>
                <a:srgbClr val="516485"/>
              </a:solidFill>
            </a:endParaRP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5001F4EA-994B-5C04-1F93-C50CD02D0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6525" y="-6293"/>
            <a:ext cx="14630400" cy="16761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85" y="494435"/>
            <a:ext cx="13487227" cy="72407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890</Words>
  <Application>Microsoft Office PowerPoint</Application>
  <PresentationFormat>Personalizar</PresentationFormat>
  <Paragraphs>101</Paragraphs>
  <Slides>9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Calibri</vt:lpstr>
      <vt:lpstr>Arial</vt:lpstr>
      <vt:lpstr>Inter</vt:lpstr>
      <vt:lpstr>Arial MT</vt:lpstr>
      <vt:lpstr>Inter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Guilherme Zanelli</dc:creator>
  <cp:lastModifiedBy>GUILHERME ZANELLI DE NOVAES</cp:lastModifiedBy>
  <cp:revision>11</cp:revision>
  <dcterms:created xsi:type="dcterms:W3CDTF">2025-11-21T21:35:33Z</dcterms:created>
  <dcterms:modified xsi:type="dcterms:W3CDTF">2025-11-24T20:01:14Z</dcterms:modified>
</cp:coreProperties>
</file>